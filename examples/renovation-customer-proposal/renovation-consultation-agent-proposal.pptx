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4c7a4f25e45da" /><Relationship Type="http://schemas.openxmlformats.org/officeDocument/2006/relationships/extended-properties" Target="/docProps/app.xml" Id="Ra126cb83610f4fc5" /><Relationship Type="http://schemas.openxmlformats.org/officeDocument/2006/relationships/officeDocument" Target="/ppt/presentation.xml" Id="R8eaa83f2c8fc4d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5425f032d4591"/>
  </p:sldMasterIdLst>
  <p:notesMasterIdLst>
    <p:notesMasterId xmlns:r="http://schemas.openxmlformats.org/officeDocument/2006/relationships" r:id="R72468cf6f7794149"/>
  </p:notesMasterIdLst>
  <p:sldIdLst>
    <p:sldId xmlns:r="http://schemas.openxmlformats.org/officeDocument/2006/relationships" id="256" r:id="R415cb22f8d174a50"/>
    <p:sldId xmlns:r="http://schemas.openxmlformats.org/officeDocument/2006/relationships" id="257" r:id="Rf96097803eb2423c"/>
    <p:sldId xmlns:r="http://schemas.openxmlformats.org/officeDocument/2006/relationships" id="258" r:id="R95563cdffa664307"/>
    <p:sldId xmlns:r="http://schemas.openxmlformats.org/officeDocument/2006/relationships" id="259" r:id="R90bd6b7868da439b"/>
    <p:sldId xmlns:r="http://schemas.openxmlformats.org/officeDocument/2006/relationships" id="260" r:id="R1c3e8556f3964439"/>
    <p:sldId xmlns:r="http://schemas.openxmlformats.org/officeDocument/2006/relationships" id="261" r:id="R3745a9a96a744247"/>
    <p:sldId xmlns:r="http://schemas.openxmlformats.org/officeDocument/2006/relationships" id="262" r:id="R9d7882d0adaa4e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cec0170ad4485" /><Relationship Type="http://schemas.openxmlformats.org/officeDocument/2006/relationships/slideMaster" Target="/ppt/slideMasters/slideMaster1.xml" Id="R2c75425f032d4591" /><Relationship Type="http://schemas.openxmlformats.org/officeDocument/2006/relationships/notesMaster" Target="/ppt/notesMasters/notesMaster1.xml" Id="R72468cf6f7794149" /><Relationship Type="http://schemas.openxmlformats.org/officeDocument/2006/relationships/presProps" Target="/ppt/presProps.xml" Id="R732b50990e8f4d32" /><Relationship Type="http://schemas.openxmlformats.org/officeDocument/2006/relationships/tableStyles" Target="/ppt/tableStyles.xml" Id="R1f2c302549124b04" /><Relationship Type="http://schemas.openxmlformats.org/officeDocument/2006/relationships/slide" Target="/ppt/slides/slide1.xml" Id="R415cb22f8d174a50" /><Relationship Type="http://schemas.openxmlformats.org/officeDocument/2006/relationships/slide" Target="/ppt/slides/slide2.xml" Id="Rf96097803eb2423c" /><Relationship Type="http://schemas.openxmlformats.org/officeDocument/2006/relationships/slide" Target="/ppt/slides/slide3.xml" Id="R95563cdffa664307" /><Relationship Type="http://schemas.openxmlformats.org/officeDocument/2006/relationships/slide" Target="/ppt/slides/slide4.xml" Id="R90bd6b7868da439b" /><Relationship Type="http://schemas.openxmlformats.org/officeDocument/2006/relationships/slide" Target="/ppt/slides/slide5.xml" Id="R1c3e8556f3964439" /><Relationship Type="http://schemas.openxmlformats.org/officeDocument/2006/relationships/slide" Target="/ppt/slides/slide6.xml" Id="R3745a9a96a744247" /><Relationship Type="http://schemas.openxmlformats.org/officeDocument/2006/relationships/slide" Target="/ppt/slides/slide7.xml" Id="R9d7882d0adaa4e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97df083d0a44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61e9379da46cc" /><Relationship Type="http://schemas.openxmlformats.org/officeDocument/2006/relationships/notesMaster" Target="/ppt/notesMasters/notesMaster1.xml" Id="R8cc02051e78d4a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fb766e1b0a4d7b" /><Relationship Type="http://schemas.openxmlformats.org/officeDocument/2006/relationships/notesMaster" Target="/ppt/notesMasters/notesMaster1.xml" Id="R455fff67ebe645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9b918fc5604c20" /><Relationship Type="http://schemas.openxmlformats.org/officeDocument/2006/relationships/notesMaster" Target="/ppt/notesMasters/notesMaster1.xml" Id="Rfcaac28e32ad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be85e9f31244b0" /><Relationship Type="http://schemas.openxmlformats.org/officeDocument/2006/relationships/notesMaster" Target="/ppt/notesMasters/notesMaster1.xml" Id="R21bab608c4874f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b353ab93d4f05" /><Relationship Type="http://schemas.openxmlformats.org/officeDocument/2006/relationships/notesMaster" Target="/ppt/notesMasters/notesMaster1.xml" Id="R08446f3e04ec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80b884da824ee3" /><Relationship Type="http://schemas.openxmlformats.org/officeDocument/2006/relationships/notesMaster" Target="/ppt/notesMasters/notesMaster1.xml" Id="R0d42f1cc073946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1460349964163" /><Relationship Type="http://schemas.openxmlformats.org/officeDocument/2006/relationships/notesMaster" Target="/ppt/notesMasters/notesMaster1.xml" Id="Rdc962ca025e8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开场只说明咨询链路的目标，不把概念图说成真实装修案例。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record: renovation-agent, verified commit 3407313 on 2026-08-16.</a:t>
            </a:r>
          </a:p>
          <a:p xmlns:a="http://schemas.openxmlformats.org/drawingml/2006/main">
            <a:r>
              <a:t>Image: AI-generated architectural interior concept via llmtoken.io / gpt-image-2 on 2026-08-16; atmosphere only, not runtime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这一页描述输入天然不规则，不宣称具体漏单率或损失金额。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CASE_INTRO.md and app.js in local renovation-agent commit 3407313.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按从客户到内部跟进的顺序讲，不把 A/B/C 评分解释为真实成交概率。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app.js and lib/integrations.js in local renovation-agent commit 3407313.</a:t>
            </a:r>
          </a:p>
          <a:p xmlns:a="http://schemas.openxmlformats.org/drawingml/2006/main">
            <a:r>
              <a:t>Production Feishu delivery and business impact remain to_verify.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强调客户不会看到评级、评分、Webhook 或回复来源；联系方式为选填。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local renovation-agent at http://127.0.0.1:3005/ on 2026-08-16 after initial motion settled.</a:t>
            </a:r>
          </a:p>
          <a:p xmlns:a="http://schemas.openxmlformats.org/drawingml/2006/main">
            <a:r>
              <a:t>Source boundary: public/index.html, public/client.js, and the verified project record updated 2026-08-13.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当前源码的 AI 主要用于可选回复生成；更广泛的理解与解释能力属于扩展方向，不应说成已经上线。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app.js uses keyword/regex extraction and local replies; Coze is optional through AI_MODE=coze.</a:t>
            </a:r>
          </a:p>
          <a:p xmlns:a="http://schemas.openxmlformats.org/drawingml/2006/main">
            <a:r>
              <a:t>Source: verified project record states rules first, model optional, and warns against treating Demo accuracy as production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这一页是风险边界，不把降级设计讲成生产 SLA。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lib/integrations.js handles missing configuration and non-OK HTTP responses with explicit status/fallback behavior.</a:t>
            </a:r>
          </a:p>
          <a:p xmlns:a="http://schemas.openxmlformats.org/drawingml/2006/main">
            <a:r>
              <a:t>Current source inspection on 2026-08-16 found network-exception recovery is not fully verified; marked as a hardening need.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结束在一个可执行、低风险的验证动作，而不是泛化路线图。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verified project record and local source inspection on 2026-08-16.</a:t>
            </a:r>
          </a:p>
          <a:p xmlns:a="http://schemas.openxmlformats.org/drawingml/2006/main">
            <a:r>
              <a:t>No customer conversion, production deployment, or real Feishu delivery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0b97d25fb48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1e69af368b4d9a" /><Relationship Type="http://schemas.openxmlformats.org/officeDocument/2006/relationships/slideLayout" Target="/ppt/slideLayouts/slideLayout1.xml" Id="R2defd92000c5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fd92000c5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84c5356b3461f" /><Relationship Type="http://schemas.openxmlformats.org/officeDocument/2006/relationships/image" Target="/ppt/media/image.png" Id="R88e262060f514dfc" /><Relationship Type="http://schemas.openxmlformats.org/officeDocument/2006/relationships/notesSlide" Target="/ppt/notesSlides/notesSlide1.xml" Id="Ra1e9432f7ebd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c56b103aa4628" /><Relationship Type="http://schemas.openxmlformats.org/officeDocument/2006/relationships/notesSlide" Target="/ppt/notesSlides/notesSlide2.xml" Id="R70e49f1f06ee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eec9aee2a405d" /><Relationship Type="http://schemas.openxmlformats.org/officeDocument/2006/relationships/notesSlide" Target="/ppt/notesSlides/notesSlide3.xml" Id="Rd420131e500d4e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fa62e6634094" /><Relationship Type="http://schemas.openxmlformats.org/officeDocument/2006/relationships/image" Target="/ppt/media/image2.png" Id="Rbb2d327c50d34c2b" /><Relationship Type="http://schemas.openxmlformats.org/officeDocument/2006/relationships/notesSlide" Target="/ppt/notesSlides/notesSlide4.xml" Id="R57ab2a511dee4e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f680de4824420" /><Relationship Type="http://schemas.openxmlformats.org/officeDocument/2006/relationships/notesSlide" Target="/ppt/notesSlides/notesSlide5.xml" Id="R63acb851e4db4a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bf4fe5fd042fd" /><Relationship Type="http://schemas.openxmlformats.org/officeDocument/2006/relationships/notesSlide" Target="/ppt/notesSlides/notesSlide6.xml" Id="Rd1a83aae466d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9c369764b4f64" /><Relationship Type="http://schemas.openxmlformats.org/officeDocument/2006/relationships/notesSlide" Target="/ppt/notesSlides/notesSlide7.xml" Id="R78ebfad1eab64a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262060f514dfc"/>
          <a:srcRect xmlns:a="http://schemas.openxmlformats.org/drawingml/2006/main" l="12765" t="0" r="127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72F4B-BC88-4C59-917D-CAF861B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21BA9-2BDC-438A-B151-DECA27A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装修咨询 · 客户入口方案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60B9-DC15-43F8-99E9-36EFF06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572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45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客户说出的需求，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45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不该停在聊天框里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23B1A-8960-40C5-A89E-A86DA636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把自然语言咨询整理成可确认、可回复、可跟进的线索。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F7D75-DF7F-4033-9138-2295C1F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63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5C57-73E6-43F3-BBD8-15541693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建议先做一次真实咨询场景验证，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再决定是否扩大接入范围。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700AE-5AC4-46FB-8E45-B7475D5E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448425"/>
            <a:ext cx="318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概念氛围图 · 非项目案例照片</a:t>
            </a:r>
          </a:p>
        </p:txBody>
      </p:sp>
    </p:spTree>
    <p:extLst>
      <p:ext uri="{BB962C8B-B14F-4D97-AF65-F5344CB8AC3E}">
        <p14:creationId xmlns:p14="http://schemas.microsoft.com/office/powerpoint/2010/main" val="1038632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3D429-A1C6-4D56-914D-0B80DD8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5F4AA-7152-4B3E-B003-343B86E7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F0D2E-9FC1-457A-854D-7C40BCF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EF2FC-206C-400C-AECD-99B02FBB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28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咨询信息越零散，后续跟进越依赖个人经验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D58E8-9259-4994-9612-E79E834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客户通常不会按表格顺序表达需求。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87E3B-AB91-4D71-9431-59D0111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361D6-18A1-4F82-829B-9726378D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房屋与区域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FDF56-B07D-4D63-8838-E880B7A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可能藏在一句生活化描述里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EFF58-F28E-4924-9D60-A90C57F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2EF1-9C2F-4E91-95A0-2A172C5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E8AB2-939F-44EA-918F-4529E997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预算与时间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646EE-BD7B-4FA0-8457-A21B58F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可能模糊，也可能暂时没有答案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E5ADF-BD04-431F-B825-4BAE79B7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F7B73-25F2-451C-842C-E0B655CC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D6484-9833-492A-B910-31FA18D7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风格与困扰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070A1-1370-43E2-86FC-120D6445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更像愿望，不像标准字段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32958-B23E-4E01-B53F-28E25566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4CBA6-3CAA-4335-95EC-869B843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5146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2C79-FCD3-4E99-BDED-0CC97D4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952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如果只留下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3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一段聊天记录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C498F-699D-4B99-8755-D68EE883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63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8E5EF-F32D-4307-8D73-B6B9282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180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rPr>
              <a:t>谁来判断？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rPr>
              <a:t>下一步做什么？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8EFEA"/>
                </a:solidFill>
                <a:latin typeface="PingFang SC"/>
                <a:ea typeface="PingFang SC"/>
                <a:cs typeface="PingFang SC"/>
              </a:rPr>
              <a:t>信息是否完整？</a:t>
            </a:r>
          </a:p>
        </p:txBody>
      </p:sp>
    </p:spTree>
    <p:extLst>
      <p:ext uri="{BB962C8B-B14F-4D97-AF65-F5344CB8AC3E}">
        <p14:creationId xmlns:p14="http://schemas.microsoft.com/office/powerpoint/2010/main" val="217587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9EC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86D7E-85E3-4A5C-8B3A-94663FB7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方案链路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9E8A2-8AC4-456A-BFC7-6FFAC4D0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EA506-BF17-4D2C-ABAF-EEDF4D6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59745-2F7B-429C-9624-67B179BF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1028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一条链路，把及时回复与后续跟进连接起来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A90EC-B399-4FE4-8425-F281254E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客户入口负责接住表达，内部链路负责把信息变成下一步。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9F205-5816-4B1C-9415-79929D96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719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F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DFCAB-19BF-4E4D-9D4D-26570F11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8669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73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508E9-90DC-47FB-8646-CFD83F3D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BFD0C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FD0C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87DA4-1EAC-423A-842D-522D77F1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客户表达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CA43E-A42E-4568-982C-B4279CD2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DCE7D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CE7DF"/>
                </a:solidFill>
                <a:latin typeface="PingFang SC"/>
                <a:ea typeface="PingFang SC"/>
                <a:cs typeface="PingFang SC"/>
              </a:rPr>
              <a:t>自然语言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E2589-9FE6-43EF-8ABE-3092442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18669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173F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D0233-F024-4EB9-936D-C97A0603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9D764-100A-4F29-A935-616D1726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信息提取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4A751-B75F-428F-979C-B4C2952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面积 · 预算 · 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EA1FE-8BE2-4E0D-A615-7569FD91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8669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173F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7CECF-57D2-4662-AA5F-7776872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27105-8DF3-4C62-98CF-2E7352D1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受控回复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344E9-2453-44B5-896B-8A8CBE6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建议与追问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1B4C4-BDF5-40E8-B9DF-850AEB4B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18669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173F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674EE-FA44-453A-B16C-7CC3500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49983-FFB7-4A2E-9191-F0B1EDBF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内部判断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0127B-8DF6-4DEA-B588-F5CAA30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A / B /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8AA65-93FC-4C40-A085-F142C49C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18669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3F1EA"/>
          </a:solidFill>
          <a:ln xmlns:a="http://schemas.openxmlformats.org/drawingml/2006/main" w="9525">
            <a:solidFill>
              <a:srgbClr val="173F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AD83F-CDC1-4603-85B5-D158F83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46246-F170-4D2C-B7F9-F3B188D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飞书跟进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51217-679C-429D-886C-286E9BA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结构化通知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1BE31-B722-4A20-8BB3-D3C66432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173F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3F2A"/>
                </a:solidFill>
                <a:latin typeface="PingFang SC"/>
                <a:ea typeface="PingFang SC"/>
                <a:cs typeface="PingFang SC"/>
              </a:rPr>
              <a:t>客户可见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0BD0C-91C4-4EA0-BA57-647CF7B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849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6751D-E560-43F9-B176-4627217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720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服务端内部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599A1-7830-4AAA-825E-3F295B72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当前 Demo 已实现这条基本链路；真实生产投递与业务效果仍需验证。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348738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AEF01-89AA-4E50-932D-16CF2EB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信息边界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E9604-74FD-492C-A785-A03EC4A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8E557-DAA6-4DFA-9C93-4EB47006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57874-2803-4C12-9CA7-F8033AF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客户只看到有用回应，内部判断留在服务端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BDDF-D236-4901-A915-09239F50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3342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d327c50d34c2b"/>
          <a:srcRect xmlns:a="http://schemas.openxmlformats.org/drawingml/2006/main" l="0" t="6442" r="0" b="6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133600"/>
            <a:ext cx="7067550" cy="3848100"/>
          </a:xfrm>
          <a:prstGeom xmlns:a="http://schemas.openxmlformats.org/drawingml/2006/main" prst="roundRect">
            <a:avLst>
              <a:gd name="adj" fmla="val 9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2BFE8-E825-4DC9-952D-2A1EDFC4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客户前台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53189-27B5-4419-AC20-07AF022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确认需求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获得建议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自愿留联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B3105-CB40-47AA-A4C5-6B6DE96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F45B3-F1FD-4D01-B5D5-0AC59D2C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173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3F2A"/>
                </a:solidFill>
                <a:latin typeface="PingFang SC"/>
                <a:ea typeface="PingFang SC"/>
                <a:cs typeface="PingFang SC"/>
              </a:rPr>
              <a:t>服务端内部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37319-AB93-4122-86B5-DD6D2FE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意向评级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评分规则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飞书状态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回复来源</a:t>
            </a:r>
          </a:p>
        </p:txBody>
      </p:sp>
    </p:spTree>
    <p:extLst>
      <p:ext uri="{BB962C8B-B14F-4D97-AF65-F5344CB8AC3E}">
        <p14:creationId xmlns:p14="http://schemas.microsoft.com/office/powerpoint/2010/main" val="505763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66360-8228-4083-8369-D49370F0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职责分工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F4828-530D-4E90-950D-4A851163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F9B22-BDFB-4A8E-A884-F0CF7FA0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69845-2EFB-4242-B05F-F0236AA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规则负责可复核判断，AI负责理解、解释与草拟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24C0D-95B7-454D-8E2C-69DA7F52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把稳定规则与模型能力拆开，才能知道哪里可靠、哪里需要人工确认。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88BFE-1CB9-49D9-BA45-9489FCE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CE921-9E04-4CBC-8F0D-976A104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73F2A"/>
                </a:solidFill>
                <a:latin typeface="Songti SC"/>
                <a:ea typeface="Songti SC"/>
                <a:cs typeface="Songti SC"/>
              </a:defRPr>
            </a:pPr>
            <a:r>
              <a:rPr sz="3900" b="1">
                <a:solidFill>
                  <a:srgbClr val="173F2A"/>
                </a:solidFill>
                <a:latin typeface="Songti SC"/>
                <a:ea typeface="Songti SC"/>
                <a:cs typeface="Songti SC"/>
              </a:rPr>
              <a:t>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5356E-CD82-47B5-980A-92265FA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适合明确、可解释、可回退的部分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3FDE1-368A-4498-8F4B-45200134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762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关键词意图识别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面积、预算、风格等字段提取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可解释的线索评分与本地回复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未配置外部服务时的离线演示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EE40D-9B6E-4244-911D-71AD3744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E96343"/>
                </a:solidFill>
                <a:latin typeface="Songti SC"/>
                <a:ea typeface="Songti SC"/>
                <a:cs typeface="Songti SC"/>
              </a:defRPr>
            </a:pPr>
            <a:r>
              <a:rPr sz="3900" b="1">
                <a:solidFill>
                  <a:srgbClr val="E96343"/>
                </a:solidFill>
                <a:latin typeface="Songti SC"/>
                <a:ea typeface="Songti SC"/>
                <a:cs typeface="Songti SC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D9CC8-F494-4652-97E4-E63E799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适合语言理解与表达增强的部分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9C8CB-898A-4F1E-B970-01CF96B6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762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理解更自由的客户表述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解释已提取信息和待补问题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草拟更自然的首轮回复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42019"/>
                </a:solidFill>
                <a:latin typeface="PingFang SC"/>
                <a:ea typeface="PingFang SC"/>
                <a:cs typeface="PingFang SC"/>
              </a:rPr>
              <a:t>在不确定时把问题交回人工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D1517-90C9-45F2-B4E7-092C7BDD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B172E-6C3C-4280-8852-6168875F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2175"/>
            <a:ext cx="1024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边界：当前演示以规则提取，模型是可选增强；不把 Demo 准确率包装成生产准确率。</a:t>
            </a:r>
          </a:p>
        </p:txBody>
      </p:sp>
    </p:spTree>
    <p:extLst>
      <p:ext uri="{BB962C8B-B14F-4D97-AF65-F5344CB8AC3E}">
        <p14:creationId xmlns:p14="http://schemas.microsoft.com/office/powerpoint/2010/main" val="1914365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C4822-63DC-42B6-B361-B3DCFEA0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06  ·  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4CE32-1CB0-4E00-9A02-F19A5B6E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F438A-FB05-41B9-A554-B5D8FE8D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外部服务失败，也不能让核心咨询结果消失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68410-D4CB-4049-9713-F0986AF3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这是交付原则，也是当前实现需要继续补强的部分。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5907F-A066-43BE-A9B0-FCE786A9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模型不可用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09C27-F893-4B14-A422-1E9524F9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rPr>
              <a:t>回到本地规则回复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24F6F-58B8-40BE-980B-2A0097C8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当前已具备配置缺失与 HTTP 失败回退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0B236-B6B4-41A3-AAAB-232B154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54D4A-9B50-4BEA-9B32-82AE4D7B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飞书未配置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470A5-3191-4106-879F-BFCEF9C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rPr>
              <a:t>保留本地咨询结果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1DC3E-EE94-4073-925A-0B4CB4E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当前返回同步预览，不伪装已推送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97E42-2B21-4281-B53E-F130111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F78A6-D9BD-490C-8976-919BA27F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网络异常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68A8E-C224-47F2-9B33-908A8459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73F2A"/>
                </a:solidFill>
                <a:latin typeface="Songti SC"/>
                <a:ea typeface="Songti SC"/>
                <a:cs typeface="Songti SC"/>
              </a:rPr>
              <a:t>明确报错并允许重试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B41D2-64E0-4900-BD56-94B64A47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仍需补齐异常捕获与恢复验证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D4218-F73F-4E9D-B646-8D81F3C0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B8682-E872-4FED-B1CF-27551CC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47AE6-B7FD-479A-9BB7-D7E085CC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1024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不承诺当前尚未验证的可用性、性能或生产稳定性。</a:t>
            </a:r>
          </a:p>
        </p:txBody>
      </p:sp>
    </p:spTree>
    <p:extLst>
      <p:ext uri="{BB962C8B-B14F-4D97-AF65-F5344CB8AC3E}">
        <p14:creationId xmlns:p14="http://schemas.microsoft.com/office/powerpoint/2010/main" val="1852454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9662B-5E68-4C3D-B08B-217A7E82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BA687-DFB2-46C3-B7E1-905AFEC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FFDAE-C67F-4A2C-985F-8A3CA771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EF28-B40A-472C-84DC-4336D27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36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先用一个真实咨询场景验证，再决定扩展范围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6E041-4E2B-4368-AD60-3D2D808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不先讨论大规模上线，先确认这条链路是否真的帮助顾问跟进。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92592-0AB0-4D65-A764-E7DAA53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C34E0-43F8-46E0-B2CB-0C36F024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3F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728E3-AFF5-4A4B-9396-6ABC9EF8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选场景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3E02-6E42-4AAE-B073-C0C6E98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选择一条真实、已授权且已脱敏的客户咨询。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EB97A-36DB-4C6E-A056-CE9D5B9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0D330-E287-4F18-9148-D1950932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14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06553-E80B-4428-A776-B1AEE25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跑链路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29C87-CD89-43A5-AC1F-0825D59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672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检查提取字段、客户回复、内部评级与飞书载荷。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4D655-113F-426E-A98F-F2CB818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9634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66EC4-5A95-45D3-8DE3-0742F5B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CC454-1245-4E9C-B502-6B0A344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42019"/>
                </a:solidFill>
                <a:latin typeface="Songti SC"/>
                <a:ea typeface="Songti SC"/>
                <a:cs typeface="Songti SC"/>
              </a:rPr>
              <a:t>做决定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B03BF-8C8E-44CA-99FC-91CAD97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57067"/>
                </a:solidFill>
                <a:latin typeface="PingFang SC"/>
                <a:ea typeface="PingFang SC"/>
                <a:cs typeface="PingFang SC"/>
              </a:rPr>
              <a:t>根据人工复核结果选择继续、调整或停止。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AEA8-944F-4465-B33F-C559DA8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752CF-1281-4951-B671-BF905ACD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建议决策：同意进入需求确认 + 有限试用，不承诺尚未验证的业务结果。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87803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2026-08-16T05:39:36.2690000Z</dcterms:created>
  <dcterms:modified xsi:type="dcterms:W3CDTF">2026-08-16T05:39:36.2690000Z</dcterms:modified>
</coreProperties>
</file>